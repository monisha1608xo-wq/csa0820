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74" r:id="rId12"/>
    <p:sldId id="275" r:id="rId13"/>
    <p:sldId id="276" r:id="rId14"/>
    <p:sldId id="277" r:id="rId15"/>
    <p:sldId id="268" r:id="rId16"/>
    <p:sldId id="269" r:id="rId17"/>
    <p:sldId id="270" r:id="rId18"/>
  </p:sldIdLst>
  <p:sldSz cx="9144000" cy="5143500" type="screen16x9"/>
  <p:notesSz cx="6858000" cy="9144000"/>
  <p:embeddedFontLst>
    <p:embeddedFont>
      <p:font typeface="Playfair Display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ghfitNKSiqloXejvqEyjN9CPRb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D24F79-48D5-4E08-8E6F-37D1F28BB9FE}">
  <a:tblStyle styleId="{49D24F79-48D5-4E08-8E6F-37D1F28BB9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bf28bdce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g3ebf28bdce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4991231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3e4991231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bf28bdce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g3ebf28bdce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6c00cfaa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g3e6c00cfaa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bf28bdcee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g3ebf28bdcee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bf28bdcee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ebf28bdcee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bf28bdce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1" name="Google Shape;241;g3ebf28bdce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" name="Google Shape;2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55" name="Google Shape;55;p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1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58" name="Google Shape;58;p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1"/>
          <p:cNvSpPr txBox="1"/>
          <p:nvPr/>
        </p:nvSpPr>
        <p:spPr>
          <a:xfrm>
            <a:off x="624900" y="1782813"/>
            <a:ext cx="7894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Pharmacy Management System For Inventory And Billing</a:t>
            </a:r>
            <a:endParaRPr sz="3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5380748" y="3212086"/>
            <a:ext cx="429510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900" b="1" dirty="0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19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9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Aishwarya(192421432)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900" dirty="0">
                <a:latin typeface="Times New Roman"/>
                <a:ea typeface="Times New Roman"/>
                <a:cs typeface="Times New Roman"/>
                <a:sym typeface="Times New Roman"/>
              </a:rPr>
              <a:t>S Monisha Reddy(192524152</a:t>
            </a:r>
            <a:r>
              <a:rPr lang="en-IN" sz="1900" b="1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9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131794" y="1498650"/>
            <a:ext cx="901220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CSA0820- PYTHON 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FOR SCIENTIFIC COMPUTING</a:t>
            </a:r>
          </a:p>
        </p:txBody>
      </p:sp>
      <p:sp>
        <p:nvSpPr>
          <p:cNvPr id="65" name="Google Shape;65;p1"/>
          <p:cNvSpPr/>
          <p:nvPr/>
        </p:nvSpPr>
        <p:spPr>
          <a:xfrm>
            <a:off x="470525" y="3137744"/>
            <a:ext cx="2544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:</a:t>
            </a:r>
            <a:endParaRPr lang="en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8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 V</a:t>
            </a: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ijayaraghavan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8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 K Aruna</a:t>
            </a:r>
            <a:endParaRPr sz="18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01B47C-818B-4D56-B208-79340BC0D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441" y="239851"/>
            <a:ext cx="6474981" cy="83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3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71" name="Google Shape;71;p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74" name="Google Shape;74;p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3"/>
          <p:cNvSpPr txBox="1"/>
          <p:nvPr/>
        </p:nvSpPr>
        <p:spPr>
          <a:xfrm>
            <a:off x="1367834" y="267449"/>
            <a:ext cx="6556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67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5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78" name="Google Shape;7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244172" y="1228840"/>
            <a:ext cx="8718455" cy="3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Pharmacies handle a large number of medicines, making manual inventory management difficult and time-consuming.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Traditional billing methods often result in calculation errors and increased waiting times for customers.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enables pharmacists to maintain medicine records, monitor stock levels, and process sales efficiently.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system improves operational accuracy while reducing the workload associated with manual record keeping.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application can be further enhanced with barcode scanning and database support for real-world deployment.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/>
        </p:nvSpPr>
        <p:spPr>
          <a:xfrm>
            <a:off x="68575" y="1172400"/>
            <a:ext cx="907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85" name="Google Shape;85;p4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86" name="Google Shape;86;p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4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89" name="Google Shape;89;p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4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4"/>
          <p:cNvSpPr txBox="1"/>
          <p:nvPr/>
        </p:nvSpPr>
        <p:spPr>
          <a:xfrm>
            <a:off x="1004782" y="184000"/>
            <a:ext cx="676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93" name="Google Shape;9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357582" y="1128188"/>
            <a:ext cx="8497586" cy="409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• Many pharmacies continue to depend on paper records and manual billing procedures for daily operations.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• Updating stock quantities manually increases the chances of inconsistencies and human errors.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• Expiry dates are often monitored through physical verification, making expired medicines difficult to identify promptly.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• The absence of an integrated system leads to delays in billing and inefficient inventory management.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• Generating reports manually requires significant effort and limits effective decision-making.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• Therefore, an automated pharmacy management solution is required to improve efficiency, accuracy, and reliability.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bf28bdcee_0_13"/>
          <p:cNvSpPr txBox="1"/>
          <p:nvPr/>
        </p:nvSpPr>
        <p:spPr>
          <a:xfrm>
            <a:off x="373153" y="1318305"/>
            <a:ext cx="8397693" cy="2622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The system enables efficient maintenance of medicine details such as quantity, price, and expiry date.</a:t>
            </a:r>
            <a:endParaRPr sz="1600" dirty="0"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It automatically updates stock levels whenever medicines are sold or restocked.</a:t>
            </a:r>
            <a:endParaRPr sz="1600" dirty="0"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The application generates accurate customer bills and reduces billing errors.</a:t>
            </a:r>
            <a:endParaRPr sz="1600" dirty="0"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It assists pharmacists in identifying low-stock and expired medicines at the appropriate time.</a:t>
            </a:r>
            <a:endParaRPr sz="1600" dirty="0"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The system also provides reports that support inventory planning and business analysis.</a:t>
            </a:r>
            <a:endParaRPr sz="1600" dirty="0"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</p:txBody>
      </p:sp>
      <p:grpSp>
        <p:nvGrpSpPr>
          <p:cNvPr id="100" name="Google Shape;100;g3ebf28bdcee_0_13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101" name="Google Shape;101;g3ebf28bdcee_0_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ebf28bdcee_0_13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g3ebf28bdcee_0_13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104" name="Google Shape;104;g3ebf28bdcee_0_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ebf28bdcee_0_13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g3ebf28bdcee_0_13"/>
          <p:cNvSpPr txBox="1"/>
          <p:nvPr/>
        </p:nvSpPr>
        <p:spPr>
          <a:xfrm>
            <a:off x="1004782" y="184000"/>
            <a:ext cx="676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 b="1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ebf28bdcee_0_13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08" name="Google Shape;108;g3ebf28bdcee_0_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49912312e_0_0"/>
          <p:cNvSpPr txBox="1"/>
          <p:nvPr/>
        </p:nvSpPr>
        <p:spPr>
          <a:xfrm>
            <a:off x="68575" y="1172400"/>
            <a:ext cx="907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14" name="Google Shape;114;g3e49912312e_0_0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115" name="Google Shape;115;g3e49912312e_0_0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e49912312e_0_0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g3e49912312e_0_0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118" name="Google Shape;118;g3e49912312e_0_0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e49912312e_0_0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g3e49912312e_0_0"/>
          <p:cNvSpPr txBox="1"/>
          <p:nvPr/>
        </p:nvSpPr>
        <p:spPr>
          <a:xfrm>
            <a:off x="1187100" y="29266"/>
            <a:ext cx="676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e49912312e_0_0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22" name="Google Shape;122;g3e49912312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" name="Google Shape;123;g3e49912312e_0_0"/>
          <p:cNvGraphicFramePr/>
          <p:nvPr>
            <p:extLst>
              <p:ext uri="{D42A27DB-BD31-4B8C-83A1-F6EECF244321}">
                <p14:modId xmlns:p14="http://schemas.microsoft.com/office/powerpoint/2010/main" val="635953837"/>
              </p:ext>
            </p:extLst>
          </p:nvPr>
        </p:nvGraphicFramePr>
        <p:xfrm>
          <a:off x="217249" y="1293257"/>
          <a:ext cx="8778251" cy="3615682"/>
        </p:xfrm>
        <a:graphic>
          <a:graphicData uri="http://schemas.openxmlformats.org/drawingml/2006/table">
            <a:tbl>
              <a:tblPr>
                <a:noFill/>
                <a:tableStyleId>{49D24F79-48D5-4E08-8E6F-37D1F28BB9FE}</a:tableStyleId>
              </a:tblPr>
              <a:tblGrid>
                <a:gridCol w="786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2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7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1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637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Author(s)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 (Title – Source)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Advantage(s)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Disadvantage(s)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Identified (Linked to Project)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8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Patel et al.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Pharmacy Inventory Management Systems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Improves medicine stock tracking and accessibility.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Focuses mainly on inventory control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 for an integrated system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021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Kumar &amp; Singh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Automation in Retail Pharmacy Operations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Automates routine pharmacy activities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Implementation complexity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friendly management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2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Sharma et al.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Computerized Billing Systems in Pharmacies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fast and accurate bill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Billing systems often function independently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 for real-time inventory updates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bf28bdcee_0_0"/>
          <p:cNvSpPr txBox="1"/>
          <p:nvPr/>
        </p:nvSpPr>
        <p:spPr>
          <a:xfrm>
            <a:off x="68575" y="1172400"/>
            <a:ext cx="907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29" name="Google Shape;129;g3ebf28bdcee_0_0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130" name="Google Shape;130;g3ebf28bdcee_0_0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3ebf28bdcee_0_0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g3ebf28bdcee_0_0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133" name="Google Shape;133;g3ebf28bdcee_0_0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ebf28bdcee_0_0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g3ebf28bdcee_0_0"/>
          <p:cNvSpPr txBox="1"/>
          <p:nvPr/>
        </p:nvSpPr>
        <p:spPr>
          <a:xfrm>
            <a:off x="1213199" y="122124"/>
            <a:ext cx="676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 b="1" dirty="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ebf28bdcee_0_0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37" name="Google Shape;137;g3ebf28bdce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g3ebf28bdcee_0_0"/>
          <p:cNvGraphicFramePr/>
          <p:nvPr/>
        </p:nvGraphicFramePr>
        <p:xfrm>
          <a:off x="171450" y="1296400"/>
          <a:ext cx="8801100" cy="3669803"/>
        </p:xfrm>
        <a:graphic>
          <a:graphicData uri="http://schemas.openxmlformats.org/drawingml/2006/table">
            <a:tbl>
              <a:tblPr>
                <a:noFill/>
                <a:tableStyleId>{49D24F79-48D5-4E08-8E6F-37D1F28BB9FE}</a:tableStyleId>
              </a:tblPr>
              <a:tblGrid>
                <a:gridCol w="455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EXISTING SYSTEM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MODULE IMPROVISATION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Medicine records are maintained manually using registers or spreadsheets, making updates time-consuming and error-prone.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a computerized inventory management system to store, update, and retrieve medicine records efficiently.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Billing calculations are performed manually, increasing the chances of arithmetic errors and delays during transactions.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Generates customer bills automatically with accurate calculations and faster processing.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Stock quantities are updated manually after sales, often resulting in inaccurate inventory information.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Automatically updates inventory levels in real time whenever medicines are sold or restocked.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Expiry dates are monitored through physical verification, making it difficult to identify expired medicines promptly.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Tracks medicine expiry dates systematically and provides alerts for expired or near-expiry products.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Pharmacists identify low-stock medicines only after routine checks, leading to delayed replenishment.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Continuously monitors stock availability and notifies users when medicines reach minimum stock levels.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6c00cfaa9_0_8"/>
          <p:cNvSpPr txBox="1"/>
          <p:nvPr/>
        </p:nvSpPr>
        <p:spPr>
          <a:xfrm>
            <a:off x="68575" y="1172400"/>
            <a:ext cx="907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44" name="Google Shape;144;g3e6c00cfaa9_0_8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145" name="Google Shape;145;g3e6c00cfaa9_0_8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e6c00cfaa9_0_8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g3e6c00cfaa9_0_8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148" name="Google Shape;148;g3e6c00cfaa9_0_8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e6c00cfaa9_0_8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g3e6c00cfaa9_0_8"/>
          <p:cNvSpPr txBox="1"/>
          <p:nvPr/>
        </p:nvSpPr>
        <p:spPr>
          <a:xfrm>
            <a:off x="1331658" y="109787"/>
            <a:ext cx="676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rchitecture Diagram</a:t>
            </a:r>
            <a:endParaRPr sz="3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e6c00cfaa9_0_8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52" name="Google Shape;152;g3e6c00cfaa9_0_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e6c00cfaa9_0_8"/>
          <p:cNvSpPr txBox="1"/>
          <p:nvPr/>
        </p:nvSpPr>
        <p:spPr>
          <a:xfrm>
            <a:off x="205350" y="983725"/>
            <a:ext cx="8733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g3e6c00cfaa9_0_8" title="ChatGPT Image Jun 14, 2026, 07_08_59 PM.png"/>
          <p:cNvPicPr preferRelativeResize="0"/>
          <p:nvPr/>
        </p:nvPicPr>
        <p:blipFill rotWithShape="1">
          <a:blip r:embed="rId5">
            <a:alphaModFix/>
          </a:blip>
          <a:srcRect t="10555"/>
          <a:stretch/>
        </p:blipFill>
        <p:spPr>
          <a:xfrm>
            <a:off x="138750" y="1216275"/>
            <a:ext cx="8866501" cy="37934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163" name="Google Shape;163;p17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7"/>
          <p:cNvSpPr txBox="1"/>
          <p:nvPr/>
        </p:nvSpPr>
        <p:spPr>
          <a:xfrm>
            <a:off x="1180106" y="374898"/>
            <a:ext cx="6783900" cy="95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67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000" b="1" dirty="0">
                <a:latin typeface="Times New Roman"/>
                <a:ea typeface="Times New Roman"/>
                <a:cs typeface="Times New Roman"/>
                <a:sym typeface="Times New Roman"/>
              </a:rPr>
              <a:t>Medicine Inventory Management</a:t>
            </a: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67" name="Google Shape;16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244172" y="1158867"/>
            <a:ext cx="8478572" cy="38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85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module is responsible for maintaining a centralized record of all medicines available in the pharmacy.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085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stores important information such as medicine names, quantities, prices, manufacturers, batch numbers, and expiry dates.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085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Pharmacists can add newly arrived medicines and update the details of existing products whenever necessary.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085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module also allows the removal of discontinued or unavailable medicines from the inventory. It enables quick searching and retrieval of medicine information during daily operations.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085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automating inventory maintenance, the module improves record accuracy and reduces the chances of manual errors.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215F5D-A380-4F62-9189-D02ACC9E5C53}"/>
              </a:ext>
            </a:extLst>
          </p:cNvPr>
          <p:cNvSpPr txBox="1"/>
          <p:nvPr/>
        </p:nvSpPr>
        <p:spPr>
          <a:xfrm flipH="1">
            <a:off x="3501988" y="296398"/>
            <a:ext cx="3670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-1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5;g3ebf28bdcee_0_0">
            <a:extLst>
              <a:ext uri="{FF2B5EF4-FFF2-40B4-BE49-F238E27FC236}">
                <a16:creationId xmlns:a16="http://schemas.microsoft.com/office/drawing/2014/main" id="{0E6DBA97-3BAA-449B-A3FC-3BA209BD895B}"/>
              </a:ext>
            </a:extLst>
          </p:cNvPr>
          <p:cNvSpPr txBox="1"/>
          <p:nvPr/>
        </p:nvSpPr>
        <p:spPr>
          <a:xfrm>
            <a:off x="1213199" y="122124"/>
            <a:ext cx="6769800" cy="113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IN" sz="4200" b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7CF46-D7C0-4558-987D-D953C6E22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0" y="1113450"/>
            <a:ext cx="7734748" cy="340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37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g3ebf28bdcee_0_188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174" name="Google Shape;174;g3ebf28bdcee_0_188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ebf28bdcee_0_188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g3ebf28bdcee_0_188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177" name="Google Shape;177;g3ebf28bdcee_0_188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ebf28bdcee_0_188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g3ebf28bdcee_0_188"/>
          <p:cNvSpPr txBox="1"/>
          <p:nvPr/>
        </p:nvSpPr>
        <p:spPr>
          <a:xfrm>
            <a:off x="1180106" y="374898"/>
            <a:ext cx="6783900" cy="95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67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000" b="1" dirty="0">
                <a:latin typeface="Times New Roman"/>
                <a:ea typeface="Times New Roman"/>
                <a:cs typeface="Times New Roman"/>
                <a:sym typeface="Times New Roman"/>
              </a:rPr>
              <a:t>Billing and Sales Management</a:t>
            </a: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ebf28bdcee_0_188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81" name="Google Shape;181;g3ebf28bdcee_0_1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ebf28bdcee_0_188"/>
          <p:cNvSpPr txBox="1"/>
          <p:nvPr/>
        </p:nvSpPr>
        <p:spPr>
          <a:xfrm>
            <a:off x="298489" y="1238753"/>
            <a:ext cx="8425963" cy="38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module automates the process of generating bills for customers purchasing medicines from the pharmacy.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calculates the total payable amount based on the selected medicines and their quantities.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transactions are recorded systematically to maintain an organized sales history.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module ensures that billing calculations are accurate and eliminates errors associated with manual computation. It speeds up the checkout process and reduces customer waiting time during peak hours.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simplifying sales operations, the module enhances service quality and operational efficiency.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DBC65-8824-44B0-9086-2BD6AF8CCCB0}"/>
              </a:ext>
            </a:extLst>
          </p:cNvPr>
          <p:cNvSpPr txBox="1"/>
          <p:nvPr/>
        </p:nvSpPr>
        <p:spPr>
          <a:xfrm flipH="1">
            <a:off x="3501988" y="296398"/>
            <a:ext cx="3670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-2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5;g3ebf28bdcee_0_0">
            <a:extLst>
              <a:ext uri="{FF2B5EF4-FFF2-40B4-BE49-F238E27FC236}">
                <a16:creationId xmlns:a16="http://schemas.microsoft.com/office/drawing/2014/main" id="{0E6DBA97-3BAA-449B-A3FC-3BA209BD895B}"/>
              </a:ext>
            </a:extLst>
          </p:cNvPr>
          <p:cNvSpPr txBox="1"/>
          <p:nvPr/>
        </p:nvSpPr>
        <p:spPr>
          <a:xfrm>
            <a:off x="1213199" y="122124"/>
            <a:ext cx="6769800" cy="113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IN" sz="4200" b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E8578-CB51-4AF7-8037-11F8AE4A4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907" y="1074365"/>
            <a:ext cx="4988186" cy="378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21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5;g3ebf28bdcee_0_0">
            <a:extLst>
              <a:ext uri="{FF2B5EF4-FFF2-40B4-BE49-F238E27FC236}">
                <a16:creationId xmlns:a16="http://schemas.microsoft.com/office/drawing/2014/main" id="{0E6DBA97-3BAA-449B-A3FC-3BA209BD895B}"/>
              </a:ext>
            </a:extLst>
          </p:cNvPr>
          <p:cNvSpPr txBox="1"/>
          <p:nvPr/>
        </p:nvSpPr>
        <p:spPr>
          <a:xfrm>
            <a:off x="1213199" y="122124"/>
            <a:ext cx="6769800" cy="113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IN" sz="4200" b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C5147C-D845-4395-BFC8-BE45C8EE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2" y="1253203"/>
            <a:ext cx="7336715" cy="331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81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5;g3ebf28bdcee_0_0">
            <a:extLst>
              <a:ext uri="{FF2B5EF4-FFF2-40B4-BE49-F238E27FC236}">
                <a16:creationId xmlns:a16="http://schemas.microsoft.com/office/drawing/2014/main" id="{0E6DBA97-3BAA-449B-A3FC-3BA209BD895B}"/>
              </a:ext>
            </a:extLst>
          </p:cNvPr>
          <p:cNvSpPr txBox="1"/>
          <p:nvPr/>
        </p:nvSpPr>
        <p:spPr>
          <a:xfrm>
            <a:off x="1213199" y="122124"/>
            <a:ext cx="6769800" cy="113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IN" sz="4200" b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BA5190-3549-44A1-A6CF-8CF5786E3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93" y="1316223"/>
            <a:ext cx="8189013" cy="317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8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5;g3ebf28bdcee_0_0">
            <a:extLst>
              <a:ext uri="{FF2B5EF4-FFF2-40B4-BE49-F238E27FC236}">
                <a16:creationId xmlns:a16="http://schemas.microsoft.com/office/drawing/2014/main" id="{0E6DBA97-3BAA-449B-A3FC-3BA209BD895B}"/>
              </a:ext>
            </a:extLst>
          </p:cNvPr>
          <p:cNvSpPr txBox="1"/>
          <p:nvPr/>
        </p:nvSpPr>
        <p:spPr>
          <a:xfrm>
            <a:off x="1213199" y="122124"/>
            <a:ext cx="6769800" cy="113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IN" sz="4200" b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F50138-E648-44F7-AB9C-BF5FF06BE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06" y="1253203"/>
            <a:ext cx="7368988" cy="36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43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g3ebf28bdcee_0_175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230" name="Google Shape;230;g3ebf28bdcee_0_17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ebf28bdcee_0_175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g3ebf28bdcee_0_175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233" name="Google Shape;233;g3ebf28bdcee_0_17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ebf28bdcee_0_175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g3ebf28bdcee_0_175"/>
          <p:cNvSpPr txBox="1"/>
          <p:nvPr/>
        </p:nvSpPr>
        <p:spPr>
          <a:xfrm>
            <a:off x="1331658" y="184001"/>
            <a:ext cx="6783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67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500" b="1" dirty="0">
                <a:latin typeface="Times New Roman"/>
                <a:ea typeface="Times New Roman"/>
                <a:cs typeface="Times New Roman"/>
                <a:sym typeface="Times New Roman"/>
              </a:rPr>
              <a:t>Future Scope And Conclusion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g3ebf28bdcee_0_175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37" name="Google Shape;237;g3ebf28bdcee_0_1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ebf28bdcee_0_175"/>
          <p:cNvSpPr txBox="1"/>
          <p:nvPr/>
        </p:nvSpPr>
        <p:spPr>
          <a:xfrm>
            <a:off x="244172" y="1258247"/>
            <a:ext cx="8579606" cy="38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815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Pharmacy Management System automates inventory tracking and billing, reducing manual effort and improving operational efficiency.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15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enhances the accuracy of stock maintenance, minimizes billing errors, and supports better medicine management through expiry and stock monitoring.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15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transaction processing and organized record keeping contribute to improved customer service and patient safety.</a:t>
            </a:r>
          </a:p>
          <a:p>
            <a:pPr marL="952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15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 such as barcode scanning, database integration, and supplier management can expand the functionality of the system.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15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accessibility, notification services, and multi-branch support can make the application suitable for real-world pharmacy environments.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g3ebf28bdcee_0_26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244" name="Google Shape;244;g3ebf28bdcee_0_2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ebf28bdcee_0_26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g3ebf28bdcee_0_26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247" name="Google Shape;247;g3ebf28bdcee_0_2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ebf28bdcee_0_26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g3ebf28bdcee_0_26"/>
          <p:cNvSpPr txBox="1"/>
          <p:nvPr/>
        </p:nvSpPr>
        <p:spPr>
          <a:xfrm>
            <a:off x="1180050" y="-85399"/>
            <a:ext cx="6783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67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500" b="1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g3ebf28bdcee_0_26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51" name="Google Shape;251;g3ebf28bdcee_0_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ebf28bdcee_0_26"/>
          <p:cNvSpPr txBox="1"/>
          <p:nvPr/>
        </p:nvSpPr>
        <p:spPr>
          <a:xfrm>
            <a:off x="372382" y="925877"/>
            <a:ext cx="8399100" cy="3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Patel, R., et al. Pharmacy Inventory Management Systems: A Review. International Journal of Pharmacy Practice, 2022.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Kumar, S., and Singh, A. Automation in Retail Pharmacy Operations. Healthcare Technology Journal, 2022.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Sharma, P., et al. Computerized Billing Systems in Pharmacies. Journal of Medical Informatics, 2023.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Ahmed, M., et al. Medicine Expiry Monitoring Techniques. International Journal of Pharmaceutical Sciences, 2023.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Joseph, T., et al. Healthcare Inventory Optimization Strategies. Healthcare Management Review, 2024.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Goundrey-Smith, S. Pharmacy Management Systems. In: Information Technology in Pharmacy. Springer, 2023.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Boggie, D. Pharmacy Information Systems. In: Pharmacy Informatics. CRC Press, 2024.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Siska, M. H., and Meyer, G. E. Pharmacy Informatics: Aligning for Success. American Journal of Health-System Pharmacy, 2020.</a:t>
            </a: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Fox, B. I., and Hollingsworth, J. C. Pharmacy Informatics I: Systems and Technology for Patient Care. In: Drug Information: A Guide for Pharmacists (7th Edition). McGraw Hill Medical, 2022.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/>
          <p:nvPr/>
        </p:nvSpPr>
        <p:spPr>
          <a:xfrm>
            <a:off x="1475250" y="1703164"/>
            <a:ext cx="6193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" sz="6800" b="1" i="1" u="none" strike="noStrike" cap="none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 !!</a:t>
            </a:r>
            <a:endParaRPr sz="1300" b="1" i="1" u="none" strike="noStrike" cap="none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58" name="Google Shape;258;p19"/>
          <p:cNvGrpSpPr/>
          <p:nvPr/>
        </p:nvGrpSpPr>
        <p:grpSpPr>
          <a:xfrm>
            <a:off x="8359472" y="-567168"/>
            <a:ext cx="540474" cy="1550885"/>
            <a:chOff x="0" y="-38100"/>
            <a:chExt cx="284700" cy="816900"/>
          </a:xfrm>
        </p:grpSpPr>
        <p:sp>
          <p:nvSpPr>
            <p:cNvPr id="259" name="Google Shape;259;p19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19"/>
          <p:cNvGrpSpPr/>
          <p:nvPr/>
        </p:nvGrpSpPr>
        <p:grpSpPr>
          <a:xfrm>
            <a:off x="-264676" y="4829589"/>
            <a:ext cx="9673807" cy="483548"/>
            <a:chOff x="0" y="-38100"/>
            <a:chExt cx="5095500" cy="254700"/>
          </a:xfrm>
        </p:grpSpPr>
        <p:sp>
          <p:nvSpPr>
            <p:cNvPr id="262" name="Google Shape;262;p19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 extrusionOk="0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643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9"/>
            <p:cNvSpPr txBox="1"/>
            <p:nvPr/>
          </p:nvSpPr>
          <p:spPr>
            <a:xfrm>
              <a:off x="0" y="-38100"/>
              <a:ext cx="50955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19"/>
          <p:cNvGrpSpPr/>
          <p:nvPr/>
        </p:nvGrpSpPr>
        <p:grpSpPr>
          <a:xfrm>
            <a:off x="244172" y="-567168"/>
            <a:ext cx="540474" cy="1550885"/>
            <a:chOff x="0" y="-38100"/>
            <a:chExt cx="284700" cy="816900"/>
          </a:xfrm>
        </p:grpSpPr>
        <p:sp>
          <p:nvSpPr>
            <p:cNvPr id="265" name="Google Shape;265;p19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9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19"/>
          <p:cNvSpPr/>
          <p:nvPr/>
        </p:nvSpPr>
        <p:spPr>
          <a:xfrm>
            <a:off x="321515" y="184001"/>
            <a:ext cx="932800" cy="920573"/>
          </a:xfrm>
          <a:custGeom>
            <a:avLst/>
            <a:gdLst/>
            <a:ahLst/>
            <a:cxnLst/>
            <a:rect l="l" t="t" r="r" b="b"/>
            <a:pathLst>
              <a:path w="2346667" h="2522119" extrusionOk="0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68" name="Google Shape;26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883" y="199587"/>
            <a:ext cx="1029620" cy="9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1077</Words>
  <Application>Microsoft Office PowerPoint</Application>
  <PresentationFormat>On-screen Show (16:9)</PresentationFormat>
  <Paragraphs>107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Times New Roman</vt:lpstr>
      <vt:lpstr>Playfair Display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AISHUU AISHUU</cp:lastModifiedBy>
  <cp:revision>8</cp:revision>
  <dcterms:modified xsi:type="dcterms:W3CDTF">2026-06-27T00:36:46Z</dcterms:modified>
</cp:coreProperties>
</file>